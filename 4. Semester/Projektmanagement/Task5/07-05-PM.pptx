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:in und Datum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Autor:in und Datum</a:t>
            </a:r>
          </a:p>
        </p:txBody>
      </p:sp>
      <p:sp>
        <p:nvSpPr>
          <p:cNvPr id="12" name="Titel der Präsentation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13" name="Textebene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und Limonen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el der Präsentation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23" name="Autor:in und Datum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Autor:in und Datum</a:t>
            </a:r>
          </a:p>
        </p:txBody>
      </p:sp>
      <p:sp>
        <p:nvSpPr>
          <p:cNvPr id="24" name="Textebene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chüssel mit Lachsfrikadellen, Salat u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Folientitel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Folientitel</a:t>
            </a:r>
          </a:p>
        </p:txBody>
      </p:sp>
      <p:sp>
        <p:nvSpPr>
          <p:cNvPr id="34" name="Textebene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Folien-Untertitel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Foliennumm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olien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43" name="Folien-Untertitel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44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olien-Untertitel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61" name="Textebene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chüssel mit Pappardelle, Petersilienbutter, gerösteten Haselnüssen und geriebenem Parmesan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Folientitel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6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lien-Untertitel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72" name="Textebene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Folientitel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7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olien-Untertitel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82" name="Textebene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Folientitel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8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el des Abschnitts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Titel des Abschnitts</a:t>
            </a:r>
          </a:p>
        </p:txBody>
      </p:sp>
      <p:sp>
        <p:nvSpPr>
          <p:cNvPr id="92" name="Foliennumm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olientitel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100" name="Folien-Untertitel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10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-Titel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Agenda-Titel</a:t>
            </a:r>
          </a:p>
        </p:txBody>
      </p:sp>
      <p:sp>
        <p:nvSpPr>
          <p:cNvPr id="109" name="Agenda-Untertitel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Agenda-Untertitel</a:t>
            </a:r>
          </a:p>
        </p:txBody>
      </p:sp>
      <p:sp>
        <p:nvSpPr>
          <p:cNvPr id="110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Agendathemen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uf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ebene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Aufstellung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k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ebene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kte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Fakten</a:t>
            </a:r>
          </a:p>
        </p:txBody>
      </p:sp>
      <p:sp>
        <p:nvSpPr>
          <p:cNvPr id="12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Quellenangabe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Quellenangabe</a:t>
            </a:r>
          </a:p>
        </p:txBody>
      </p:sp>
      <p:sp>
        <p:nvSpPr>
          <p:cNvPr id="136" name="Textebene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„Bemerkenswert“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alatschüssel mit gebratenem Reis, gekochten Eiern und Stäbchen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chüssel mit Lachsfrikadellen, Salat u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Schüssel mit Pappardelle, Petersilienbutter, gerösteten Haselnüssen und geriebenem Parmesan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alatschüssel mit gebratenem Reis, gekochten Eiern und Stäbchen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Folientitel</a:t>
            </a:r>
          </a:p>
        </p:txBody>
      </p:sp>
      <p:sp>
        <p:nvSpPr>
          <p:cNvPr id="3" name="Textebene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m Zolleis, Luca Haberer, Julian Bertol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Tim Zolleis, Luca Haberer, Julian Bertol</a:t>
            </a:r>
          </a:p>
        </p:txBody>
      </p:sp>
      <p:sp>
        <p:nvSpPr>
          <p:cNvPr id="172" name="Projektmanagemen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 lvl="1">
              <a:defRPr spc="-232" sz="11600"/>
            </a:pPr>
            <a:r>
              <a:t>Projektmanagement</a:t>
            </a:r>
          </a:p>
        </p:txBody>
      </p:sp>
      <p:sp>
        <p:nvSpPr>
          <p:cNvPr id="173" name="Aufgabe 5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Aufgabe 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Aufgabe 5.1: Risiken erkennen und bewerte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89572">
              <a:defRPr spc="-166" sz="8330"/>
            </a:lvl1pPr>
          </a:lstStyle>
          <a:p>
            <a:pPr/>
            <a:r>
              <a:t>Aufgabe 5.1: Risiken erkennen und bewerten</a:t>
            </a:r>
          </a:p>
        </p:txBody>
      </p:sp>
      <p:graphicFrame>
        <p:nvGraphicFramePr>
          <p:cNvPr id="176" name="Tabelle 1"/>
          <p:cNvGraphicFramePr/>
          <p:nvPr/>
        </p:nvGraphicFramePr>
        <p:xfrm>
          <a:off x="1434209" y="3048604"/>
          <a:ext cx="10985501" cy="8256012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3585930"/>
                <a:gridCol w="3585930"/>
                <a:gridCol w="3585930"/>
                <a:gridCol w="3585930"/>
                <a:gridCol w="3585930"/>
                <a:gridCol w="3585930"/>
              </a:tblGrid>
              <a:tr h="193400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Risiko-ID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Risiko (Beschreibung)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WK(1-5)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E(%)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SK (1-5)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Schadenshöhe (€)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11526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 Woche Verzögerung durch Mitarbeiter engpass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15000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75275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Release Date kann nicht eingehalten werden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30000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93400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Rechtliche Änderungen (neue Gesetze)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110000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28661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Sicherheitslücken in der APP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125000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Tabelle 1"/>
          <p:cNvGraphicFramePr/>
          <p:nvPr/>
        </p:nvGraphicFramePr>
        <p:xfrm>
          <a:off x="1031498" y="1230073"/>
          <a:ext cx="10985501" cy="8256012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3720167"/>
                <a:gridCol w="3720167"/>
                <a:gridCol w="3720167"/>
                <a:gridCol w="3720167"/>
                <a:gridCol w="3720167"/>
                <a:gridCol w="3720167"/>
              </a:tblGrid>
              <a:tr h="16486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Risiko-ID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Risiko (Beschreibung)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WK (1-5)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E (%)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SK (1-5)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Schadenshöhe (€)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6486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Unzufriedene Mitarbeiter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30000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6486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R6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Konkurrenz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15000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6486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R7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Insolvenz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135700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6486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R8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Produkt wird nicht von Zielgruppe akzeptiert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40000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isikobewertung: Berechnen Sie für jedes Risiko die folgenden beiden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365469">
              <a:defRPr spc="-95" sz="4760"/>
            </a:pPr>
            <a:r>
              <a:t>Risikobewertung: Berechnen Sie für jedes Risiko die folgenden beiden</a:t>
            </a:r>
          </a:p>
          <a:p>
            <a:pPr defTabSz="1365469">
              <a:defRPr spc="-95" sz="4760"/>
            </a:pPr>
            <a:r>
              <a:t>Kennzahlen:</a:t>
            </a:r>
          </a:p>
        </p:txBody>
      </p:sp>
      <p:sp>
        <p:nvSpPr>
          <p:cNvPr id="181" name="R1:  RI = 3 * 2 = 6;  EW = 20% * 15000€ = 3.000,00 €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36447" indent="-536447" defTabSz="2145738">
              <a:spcBef>
                <a:spcPts val="3900"/>
              </a:spcBef>
              <a:defRPr sz="4224"/>
            </a:pPr>
            <a:r>
              <a:t>R1:  RI = 3 * 2 = 6;  EW = 20% * 15000€ = 3.000,00 € 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R2:  RI = 3 * 3 = 9;  EW = 20% * 30000€ = 6.000,00 € 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R3:  RI = 1 * 5 = 5;  EW = 1% * 110000€ = 1.100,00 € 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R4:  RI = 4 * 5 = 20; EW = 25% * 125000€ = 31.250,00 € 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R5:  RI = 2 * 3 = 6;  EW = 3% * 30000€ = 900,00 € 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R6:  RI = 1 * 2 = 2;  EW = 1% * 15000€ = 150,00 € 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R7:  RI = 2 * 5 = 20; EW = 2% * 135700€ = 2.714,00 € 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R8:  RI = 3 * 3 = 9;  EW = 20% * 30000€ = 6.000,00 €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isikomatrix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Risikomatrix</a:t>
            </a:r>
          </a:p>
        </p:txBody>
      </p:sp>
      <p:pic>
        <p:nvPicPr>
          <p:cNvPr id="184" name="eingesetzter-Film.png" descr="eingesetzter-Film.png"/>
          <p:cNvPicPr>
            <a:picLocks noChangeAspect="1"/>
          </p:cNvPicPr>
          <p:nvPr/>
        </p:nvPicPr>
        <p:blipFill>
          <a:blip r:embed="rId2">
            <a:extLst/>
          </a:blip>
          <a:srcRect l="844" t="0" r="844" b="9447"/>
          <a:stretch>
            <a:fillRect/>
          </a:stretch>
        </p:blipFill>
        <p:spPr>
          <a:xfrm>
            <a:off x="2109035" y="2998169"/>
            <a:ext cx="12035559" cy="8750167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Wahrscheinlichkeitsklasse"/>
          <p:cNvSpPr txBox="1"/>
          <p:nvPr/>
        </p:nvSpPr>
        <p:spPr>
          <a:xfrm>
            <a:off x="5691626" y="12051985"/>
            <a:ext cx="828816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Wahrscheinlichkeitsklasse</a:t>
            </a:r>
          </a:p>
        </p:txBody>
      </p:sp>
      <p:sp>
        <p:nvSpPr>
          <p:cNvPr id="186" name="R1"/>
          <p:cNvSpPr txBox="1"/>
          <p:nvPr/>
        </p:nvSpPr>
        <p:spPr>
          <a:xfrm>
            <a:off x="8703605" y="8387827"/>
            <a:ext cx="87081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R1</a:t>
            </a:r>
          </a:p>
        </p:txBody>
      </p:sp>
      <p:sp>
        <p:nvSpPr>
          <p:cNvPr id="187" name="Rechteck"/>
          <p:cNvSpPr/>
          <p:nvPr/>
        </p:nvSpPr>
        <p:spPr>
          <a:xfrm>
            <a:off x="1845835" y="5439578"/>
            <a:ext cx="1270001" cy="318061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8" name="Schadensklasse Tim Dreh das bitte"/>
          <p:cNvSpPr txBox="1"/>
          <p:nvPr/>
        </p:nvSpPr>
        <p:spPr>
          <a:xfrm>
            <a:off x="-52174" y="5782816"/>
            <a:ext cx="5066019" cy="3180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Schadensklasse Tim Dreh das bitte</a:t>
            </a:r>
          </a:p>
        </p:txBody>
      </p:sp>
      <p:sp>
        <p:nvSpPr>
          <p:cNvPr id="189" name="R2"/>
          <p:cNvSpPr txBox="1"/>
          <p:nvPr/>
        </p:nvSpPr>
        <p:spPr>
          <a:xfrm>
            <a:off x="8703605" y="6878108"/>
            <a:ext cx="87081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R2</a:t>
            </a:r>
          </a:p>
        </p:txBody>
      </p:sp>
      <p:sp>
        <p:nvSpPr>
          <p:cNvPr id="190" name="R3"/>
          <p:cNvSpPr txBox="1"/>
          <p:nvPr/>
        </p:nvSpPr>
        <p:spPr>
          <a:xfrm>
            <a:off x="5635203" y="3679165"/>
            <a:ext cx="87081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R3</a:t>
            </a:r>
          </a:p>
        </p:txBody>
      </p:sp>
      <p:sp>
        <p:nvSpPr>
          <p:cNvPr id="191" name="R4"/>
          <p:cNvSpPr txBox="1"/>
          <p:nvPr/>
        </p:nvSpPr>
        <p:spPr>
          <a:xfrm>
            <a:off x="10270448" y="3679165"/>
            <a:ext cx="87081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R4</a:t>
            </a:r>
          </a:p>
        </p:txBody>
      </p:sp>
      <p:sp>
        <p:nvSpPr>
          <p:cNvPr id="192" name="R5"/>
          <p:cNvSpPr txBox="1"/>
          <p:nvPr/>
        </p:nvSpPr>
        <p:spPr>
          <a:xfrm>
            <a:off x="7153083" y="6878108"/>
            <a:ext cx="87081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R5</a:t>
            </a:r>
          </a:p>
        </p:txBody>
      </p:sp>
      <p:sp>
        <p:nvSpPr>
          <p:cNvPr id="193" name="R6"/>
          <p:cNvSpPr txBox="1"/>
          <p:nvPr/>
        </p:nvSpPr>
        <p:spPr>
          <a:xfrm>
            <a:off x="5635203" y="8387827"/>
            <a:ext cx="87081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R6</a:t>
            </a:r>
          </a:p>
        </p:txBody>
      </p:sp>
      <p:sp>
        <p:nvSpPr>
          <p:cNvPr id="194" name="R7"/>
          <p:cNvSpPr txBox="1"/>
          <p:nvPr/>
        </p:nvSpPr>
        <p:spPr>
          <a:xfrm>
            <a:off x="7153083" y="3679165"/>
            <a:ext cx="87081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R7</a:t>
            </a:r>
          </a:p>
        </p:txBody>
      </p:sp>
      <p:sp>
        <p:nvSpPr>
          <p:cNvPr id="195" name="R8"/>
          <p:cNvSpPr txBox="1"/>
          <p:nvPr/>
        </p:nvSpPr>
        <p:spPr>
          <a:xfrm>
            <a:off x="8703605" y="5246009"/>
            <a:ext cx="87081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D) Reflexion und Priorisieru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D) Reflexion und Priorisierung</a:t>
            </a:r>
          </a:p>
        </p:txBody>
      </p:sp>
      <p:sp>
        <p:nvSpPr>
          <p:cNvPr id="198" name="Besonders Kritisch sind R4 und R7, da diese die Schwelle von 15 (beide 20) überschreiten (Hochkritisch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60831" indent="-560831" defTabSz="2243271">
              <a:spcBef>
                <a:spcPts val="4100"/>
              </a:spcBef>
              <a:defRPr sz="4416"/>
            </a:pPr>
            <a:r>
              <a:t>Besonders Kritisch sind R4 und R7, da diese die Schwelle von 15 (beide 20) überschreiten (Hochkritisch)</a:t>
            </a:r>
          </a:p>
          <a:p>
            <a:pPr marL="560831" indent="-560831" defTabSz="2243271">
              <a:spcBef>
                <a:spcPts val="4100"/>
              </a:spcBef>
              <a:defRPr sz="4416"/>
            </a:pPr>
            <a:r>
              <a:t>Aktiv gemanaged werden sollten R2, R4, R5, R7, da diese ein Risiko mit großen Schaden beinhalten</a:t>
            </a:r>
          </a:p>
          <a:p>
            <a:pPr marL="560831" indent="-560831" defTabSz="2243271">
              <a:spcBef>
                <a:spcPts val="4100"/>
              </a:spcBef>
              <a:defRPr sz="4416"/>
            </a:pPr>
            <a:r>
              <a:t>Akzeptiert werden können R1, R3 und R6. Gegen diese Risiken kann man nicht viel machen</a:t>
            </a:r>
          </a:p>
          <a:p>
            <a:pPr marL="560831" indent="-560831" defTabSz="2243271">
              <a:spcBef>
                <a:spcPts val="4100"/>
              </a:spcBef>
              <a:defRPr sz="4416"/>
            </a:pPr>
          </a:p>
          <a:p>
            <a:pPr marL="560831" indent="-560831" defTabSz="2243271">
              <a:spcBef>
                <a:spcPts val="4100"/>
              </a:spcBef>
              <a:defRPr sz="4416"/>
            </a:pPr>
            <a:r>
              <a:t>-&gt; Die Einschätzung basiert auf den Risikowerten RI und EW. Hier haben wir einen guten durchblick bekommen und können so sagen welche Risiken relevanter sind als andere.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roduct Backlog erstelle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Product Backlog erstellen</a:t>
            </a:r>
          </a:p>
        </p:txBody>
      </p:sp>
      <p:graphicFrame>
        <p:nvGraphicFramePr>
          <p:cNvPr id="201" name="Tabelle 1"/>
          <p:cNvGraphicFramePr/>
          <p:nvPr/>
        </p:nvGraphicFramePr>
        <p:xfrm>
          <a:off x="1013838" y="4135262"/>
          <a:ext cx="10985501" cy="825601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4471264"/>
                <a:gridCol w="4471264"/>
                <a:gridCol w="4471264"/>
                <a:gridCol w="4471264"/>
                <a:gridCol w="4471264"/>
              </a:tblGrid>
              <a:tr h="206082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Story-ID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User-Story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Rolle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Ziel/ Wunsch/ Funktionalität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Nutzen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06082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Weidetagebuch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Anwender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Jeden Tag das Weidetagebuch pflegen können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Meine gesetzliche Pflicht einzuhalten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06082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Futteranalyse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Anwender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Eine Statistik über die Zusammensetzung der Nährstoffe im Futter sehen können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Meinen Tieren die beste Ernährung zu bieten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06082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Früherkennung von Krankheiten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Anwender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Eine Statistik über die Temperaturen der abgegeben Milch einsehen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Eine Erkrankung der Tiere zu erkennen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Tabelle 1"/>
          <p:cNvGraphicFramePr/>
          <p:nvPr/>
        </p:nvGraphicFramePr>
        <p:xfrm>
          <a:off x="656332" y="2062458"/>
          <a:ext cx="10985501" cy="8256012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4614267"/>
                <a:gridCol w="4614267"/>
                <a:gridCol w="4614267"/>
                <a:gridCol w="4614267"/>
                <a:gridCol w="4614267"/>
              </a:tblGrid>
              <a:tr h="223171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Story-ID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User-Story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Rolle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Ziel/ Wunsch/ Funktionalität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Nutzen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23171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Milchstatistiken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Anwender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Eine Statistik über die abegene Milch sehen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Zu wissen wie viel ich verkaufen kann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23171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Werte exportieren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Anwender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Alle werte auf meinen Computer exportieren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Die Daten per post verschicken zu können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51931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6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Meldesystem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Anwender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Gewarnt wenn etwas nicht so läuft wie es soll oder die Temperaturen in einen kritischen Bereich fallen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Den Schaden so gering wie möglich zu halten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944115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7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Korrekturen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Anwender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Möchte ich die Daten manuell korrigieren können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Fehlerhafte Einträge korrekt darzustellen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" name="Tabelle 1"/>
          <p:cNvGraphicFramePr/>
          <p:nvPr/>
        </p:nvGraphicFramePr>
        <p:xfrm>
          <a:off x="695222" y="903647"/>
          <a:ext cx="10985501" cy="8256012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4598711"/>
                <a:gridCol w="4598711"/>
                <a:gridCol w="4598711"/>
                <a:gridCol w="4598711"/>
                <a:gridCol w="4598711"/>
              </a:tblGrid>
              <a:tr h="294629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Story-ID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User-Story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Rolle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Ziel/ Wunsch/ Funktionalität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Nutzen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317331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8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Betriebsystem unabhängige Entwicklung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Anwender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Auf all meinen Endgeräten die Daten anzuschaunen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Maximalen Komfort zu bieten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317331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Echtzeitdaten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Anwender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Auf all meinen Geräten die selben Daten per Echtzeit einsehen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Inkonsistenten zu vermeiden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317331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Automatische Datenerfassung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Anwender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Dass die Daten automatisch von den Sensoren erfasst und in die Datenbank eingetragen werden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Statistiken vollständig zu halten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Akzeptanzkriterie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Akzeptanzkriterien</a:t>
            </a:r>
          </a:p>
        </p:txBody>
      </p:sp>
      <p:sp>
        <p:nvSpPr>
          <p:cNvPr id="208" name="2 Futteranalyse:  Wenn der Proteingehalt des Futters unter 10 fällt, dann soll eine Benachrichtigung auf das Handy gesendet werden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 Futteranalyse:  Wenn der Proteingehalt des Futters unter 10 fällt, dann soll eine Benachrichtigung auf das Handy gesendet werden.</a:t>
            </a:r>
          </a:p>
          <a:p>
            <a:pPr/>
            <a:r>
              <a:t>4 Milchstatistiken: Wenn die Milchproduktion unter 20 Liter fällt, dann soll eine Benachrichtigung auf das Handy gesendet werden.</a:t>
            </a:r>
          </a:p>
          <a:p>
            <a:pPr/>
            <a:r>
              <a:t>3 Früherkennung von Krankheiten: Wenn die Milch unter 10 Grad fällt, dann soll eine Benachrichtigung auf das Handy gesendet werden.</a:t>
            </a:r>
          </a:p>
          <a:p>
            <a:pPr/>
            <a:r>
              <a:t> 10 Automatische Datenerfassung: Jeden Tag um 12 Uhr sollen die Daten erfasst und in eine Datenbank geschrieben werden.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MuSCoW-Priorisieru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MuSCoW-Priorisierung</a:t>
            </a:r>
          </a:p>
        </p:txBody>
      </p:sp>
      <p:sp>
        <p:nvSpPr>
          <p:cNvPr id="211" name="Must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99872" indent="-499872" defTabSz="1999437">
              <a:spcBef>
                <a:spcPts val="3600"/>
              </a:spcBef>
              <a:defRPr sz="3936"/>
            </a:pPr>
            <a:r>
              <a:t>Must:</a:t>
            </a:r>
          </a:p>
          <a:p>
            <a:pPr lvl="3" marL="1999488" indent="-499872" defTabSz="1999437">
              <a:spcBef>
                <a:spcPts val="3600"/>
              </a:spcBef>
              <a:defRPr sz="3936"/>
            </a:pPr>
            <a:r>
              <a:t>Story-ID 1: Weidetagebuch</a:t>
            </a:r>
          </a:p>
          <a:p>
            <a:pPr lvl="4" marL="2499360" indent="-499872" defTabSz="1999437">
              <a:spcBef>
                <a:spcPts val="3600"/>
              </a:spcBef>
              <a:defRPr sz="3936"/>
            </a:pPr>
            <a:r>
              <a:t>Gesetzliche Pflicht zur Dokumentation – absolut notwendig für die Einhaltung gesetzlicher Vorschriften.</a:t>
            </a:r>
          </a:p>
          <a:p>
            <a:pPr lvl="3" marL="1999488" indent="-499872" defTabSz="1999437">
              <a:spcBef>
                <a:spcPts val="3600"/>
              </a:spcBef>
              <a:defRPr sz="3936"/>
            </a:pPr>
            <a:r>
              <a:t>Story-ID 10: Automatische Datenerfassung</a:t>
            </a:r>
          </a:p>
          <a:p>
            <a:pPr lvl="4" marL="2499360" indent="-499872" defTabSz="1999437">
              <a:spcBef>
                <a:spcPts val="3600"/>
              </a:spcBef>
              <a:defRPr sz="3936"/>
            </a:pPr>
            <a:r>
              <a:t>Grundlage für zuverlässige Statistiken und effiziente Datenpflege – essenziell für das System.</a:t>
            </a:r>
          </a:p>
          <a:p>
            <a:pPr lvl="3" marL="1999488" indent="-499872" defTabSz="1999437">
              <a:spcBef>
                <a:spcPts val="3600"/>
              </a:spcBef>
              <a:defRPr sz="3936"/>
            </a:pPr>
            <a:r>
              <a:t>Story-ID 6: Meldesystem</a:t>
            </a:r>
          </a:p>
          <a:p>
            <a:pPr lvl="4" marL="2499360" indent="-499872" defTabSz="1999437">
              <a:spcBef>
                <a:spcPts val="3600"/>
              </a:spcBef>
              <a:defRPr sz="3936"/>
            </a:pPr>
            <a:r>
              <a:t>Kritisch für Tierwohl und Schadensbegrenzung – Frühwarnsystem schützt vor ernsten Problemen.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ould…"/>
          <p:cNvSpPr txBox="1"/>
          <p:nvPr>
            <p:ph type="body" idx="1"/>
          </p:nvPr>
        </p:nvSpPr>
        <p:spPr>
          <a:xfrm>
            <a:off x="1075929" y="704553"/>
            <a:ext cx="21971001" cy="11571465"/>
          </a:xfrm>
          <a:prstGeom prst="rect">
            <a:avLst/>
          </a:prstGeom>
        </p:spPr>
        <p:txBody>
          <a:bodyPr/>
          <a:lstStyle/>
          <a:p>
            <a:pPr/>
            <a:r>
              <a:t>Should</a:t>
            </a:r>
          </a:p>
          <a:p>
            <a:pPr lvl="1"/>
            <a:r>
              <a:t>Story-ID 3: Früherkennung von Krankheiten</a:t>
            </a:r>
          </a:p>
          <a:p>
            <a:pPr lvl="2"/>
            <a:r>
              <a:t> Wichtige Funktion zur Gesundheitsüberwachung, jedoch auch manuell durch andere Indikatoren möglich.</a:t>
            </a:r>
          </a:p>
          <a:p>
            <a:pPr lvl="1"/>
            <a:r>
              <a:t>Story-ID 2: Futteranalyse</a:t>
            </a:r>
          </a:p>
          <a:p>
            <a:pPr lvl="2"/>
            <a:r>
              <a:t>Optimiert Tierernährung, aber kein gesetzliches Muss – erhöht Qualität, nicht Überlebensnotwendig</a:t>
            </a:r>
          </a:p>
          <a:p>
            <a:pPr lvl="1"/>
            <a:r>
              <a:t>Story-ID 5: Werte exportieren</a:t>
            </a:r>
          </a:p>
          <a:p>
            <a:pPr lvl="2"/>
            <a:r>
              <a:t>Praktisch für Datenaustausch, aber nicht kritisch für die Kernfunktionalität.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ould…"/>
          <p:cNvSpPr txBox="1"/>
          <p:nvPr>
            <p:ph type="body" idx="1"/>
          </p:nvPr>
        </p:nvSpPr>
        <p:spPr>
          <a:xfrm>
            <a:off x="1206500" y="755112"/>
            <a:ext cx="21971000" cy="11749404"/>
          </a:xfrm>
          <a:prstGeom prst="rect">
            <a:avLst/>
          </a:prstGeom>
        </p:spPr>
        <p:txBody>
          <a:bodyPr/>
          <a:lstStyle/>
          <a:p>
            <a:pPr/>
            <a:r>
              <a:t>Could</a:t>
            </a:r>
          </a:p>
          <a:p>
            <a:pPr lvl="1"/>
            <a:r>
              <a:t>Story-ID 8: Betriebssystemunabhängige Entwicklung</a:t>
            </a:r>
          </a:p>
          <a:p>
            <a:pPr lvl="2"/>
            <a:r>
              <a:t>Erhöht Komfort und Kompatibilität – wünschenswert, aber funktional auch mit Einschränkungen nutzbar.</a:t>
            </a:r>
          </a:p>
          <a:p>
            <a:pPr lvl="1"/>
            <a:r>
              <a:t>Story-ID 9: Echtzeitdaten</a:t>
            </a:r>
          </a:p>
          <a:p>
            <a:pPr lvl="2"/>
            <a:r>
              <a:t>Hilfreich zur Vermeidung von Inkonsistenzen, aber nicht entscheidend für Funktionserfüllung</a:t>
            </a:r>
          </a:p>
          <a:p>
            <a:pPr lvl="1"/>
            <a:r>
              <a:t>Story-ID 7: Korrekturen</a:t>
            </a:r>
          </a:p>
          <a:p>
            <a:pPr lvl="2"/>
            <a:r>
              <a:t>Wichtig zur Fehlerbehebung, aber bei automatischer Datenerfassung seltener notwendig.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Won’t…"/>
          <p:cNvSpPr txBox="1"/>
          <p:nvPr>
            <p:ph type="body" idx="1"/>
          </p:nvPr>
        </p:nvSpPr>
        <p:spPr>
          <a:xfrm>
            <a:off x="1206500" y="712970"/>
            <a:ext cx="21971000" cy="11791546"/>
          </a:xfrm>
          <a:prstGeom prst="rect">
            <a:avLst/>
          </a:prstGeom>
        </p:spPr>
        <p:txBody>
          <a:bodyPr/>
          <a:lstStyle/>
          <a:p>
            <a:pPr/>
            <a:r>
              <a:t>Won’t</a:t>
            </a:r>
          </a:p>
          <a:p>
            <a:pPr lvl="1"/>
            <a:r>
              <a:t>Story-ID 4: Milchstatistiken</a:t>
            </a:r>
          </a:p>
          <a:p>
            <a:pPr lvl="2"/>
            <a:r>
              <a:t>Nett zur Verkaufsplanung, aber nicht vorrangig – kann auch manuell geschätzt oder später integriert werden.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